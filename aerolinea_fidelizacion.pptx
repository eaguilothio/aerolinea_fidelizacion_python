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-418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CLV mediano (% del total)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E76F51"/>
              </a:solidFill>
              <a:effectLst/>
            </c:spPr>
          </c:dPt>
          <c:dPt>
            <c:idx val="1"/>
            <c:spPr>
              <a:solidFill>
                <a:srgbClr val="6C757D"/>
              </a:solidFill>
              <a:effectLst/>
            </c:spPr>
          </c:dPt>
          <c:dPt>
            <c:idx val="2"/>
            <c:spPr>
              <a:solidFill>
                <a:srgbClr val="2A9D8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CatName val="1"/>
            <c:showPercent val="1"/>
          </c:dLbls>
          <c:cat>
            <c:strRef>
              <c:f>Sheet1!$A$2:$A$4</c:f>
              <c:strCache>
                <c:ptCount val="3"/>
                <c:pt idx="0">
                  <c:v>Aurora  43.46%</c:v>
                </c:pt>
                <c:pt idx="1">
                  <c:v>Nova  30.96%</c:v>
                </c:pt>
                <c:pt idx="2">
                  <c:v>Star  25.58%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43.46</c:v>
                </c:pt>
                <c:pt idx="1">
                  <c:v>30.959999999999997</c:v>
                </c:pt>
                <c:pt idx="2">
                  <c:v>25.58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162032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2A3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728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Fidelización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Aerolínea Canadiense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 más valioso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10972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Seaborn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  |  Retención y Valor del Cliente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9768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82296" cy="13716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932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2984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quién es el cliente de alto valor, cuánto vuela y dónde vive — para que la aerolínea sepa exactamente dónde y cómo invertir en retención.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37760" y="868680"/>
            <a:ext cx="384048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868680"/>
            <a:ext cx="82296" cy="137160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005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932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135331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Customer_Flight_Activity.csv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mensual de vuelos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Customer_Profile.csv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demográfico por cliente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del análisis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" y="2788920"/>
            <a:ext cx="8412480" cy="29260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" y="28072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468880" y="280720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675120" y="28072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origen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3081528"/>
            <a:ext cx="8412480" cy="38404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0" name="Shape 16"/>
          <p:cNvSpPr/>
          <p:nvPr/>
        </p:nvSpPr>
        <p:spPr>
          <a:xfrm>
            <a:off x="365760" y="3081528"/>
            <a:ext cx="64008" cy="3840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" y="3136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loyalty_card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468880" y="3136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del cliente: Aurora, Star o Nova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675120" y="3145536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0077B6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0" y="31455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Customer_Profile.csv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65760" y="3502152"/>
            <a:ext cx="8412480" cy="3840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6" name="Shape 22"/>
          <p:cNvSpPr/>
          <p:nvPr/>
        </p:nvSpPr>
        <p:spPr>
          <a:xfrm>
            <a:off x="365760" y="3502152"/>
            <a:ext cx="64008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3557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468880" y="3557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económico del cliente para la aerolínea (beneficio estimado)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675120" y="3566160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0077B6"/>
          </a:solidFill>
          <a:ln/>
        </p:spPr>
      </p:sp>
      <p:sp>
        <p:nvSpPr>
          <p:cNvPr id="30" name="Text 26"/>
          <p:cNvSpPr/>
          <p:nvPr/>
        </p:nvSpPr>
        <p:spPr>
          <a:xfrm>
            <a:off x="6675120" y="35661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Customer_Profile.csv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65760" y="3922776"/>
            <a:ext cx="8412480" cy="38404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Shape 28"/>
          <p:cNvSpPr/>
          <p:nvPr/>
        </p:nvSpPr>
        <p:spPr>
          <a:xfrm>
            <a:off x="365760" y="3922776"/>
            <a:ext cx="6400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29"/>
          <p:cNvSpPr/>
          <p:nvPr/>
        </p:nvSpPr>
        <p:spPr>
          <a:xfrm>
            <a:off x="502920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246888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canadiense de residencia del cliente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675120" y="3986784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0077B6"/>
          </a:solidFill>
          <a:ln/>
        </p:spPr>
      </p:sp>
      <p:sp>
        <p:nvSpPr>
          <p:cNvPr id="36" name="Text 32"/>
          <p:cNvSpPr/>
          <p:nvPr/>
        </p:nvSpPr>
        <p:spPr>
          <a:xfrm>
            <a:off x="6675120" y="39867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Customer_Profile.csv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8" name="Shape 34"/>
          <p:cNvSpPr/>
          <p:nvPr/>
        </p:nvSpPr>
        <p:spPr>
          <a:xfrm>
            <a:off x="365760" y="4343400"/>
            <a:ext cx="64008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5"/>
          <p:cNvSpPr/>
          <p:nvPr/>
        </p:nvSpPr>
        <p:spPr>
          <a:xfrm>
            <a:off x="502920" y="4398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total_flights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2468880" y="4398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totales acumulados por cliente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675120" y="4407408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0077B6"/>
          </a:solidFill>
          <a:ln/>
        </p:spPr>
      </p:sp>
      <p:sp>
        <p:nvSpPr>
          <p:cNvPr id="42" name="Text 38"/>
          <p:cNvSpPr/>
          <p:nvPr/>
        </p:nvSpPr>
        <p:spPr>
          <a:xfrm>
            <a:off x="6675120" y="4407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Flight_Activity.csv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4" name="Text 40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0392" y="1371600"/>
            <a:ext cx="36576" cy="301752"/>
          </a:xfrm>
          <a:prstGeom prst="rect">
            <a:avLst/>
          </a:prstGeom>
          <a:solidFill>
            <a:srgbClr val="6B8CA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896112"/>
            <a:ext cx="548640" cy="548640"/>
          </a:xfrm>
          <a:prstGeom prst="ellipse">
            <a:avLst/>
          </a:prstGeom>
          <a:solidFill>
            <a:srgbClr val="6B8C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14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868680"/>
            <a:ext cx="7406640" cy="59436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868680"/>
            <a:ext cx="64008" cy="594360"/>
          </a:xfrm>
          <a:prstGeom prst="rect">
            <a:avLst/>
          </a:prstGeom>
          <a:solidFill>
            <a:srgbClr val="6B8CAB"/>
          </a:solidFill>
          <a:ln/>
        </p:spPr>
      </p:sp>
      <p:sp>
        <p:nvSpPr>
          <p:cNvPr id="9" name="Text 7"/>
          <p:cNvSpPr/>
          <p:nvPr/>
        </p:nvSpPr>
        <p:spPr>
          <a:xfrm>
            <a:off x="15727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72768" y="117043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variables y estructura de cada archivo CSV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2176272"/>
            <a:ext cx="36576" cy="301752"/>
          </a:xfrm>
          <a:prstGeom prst="rect">
            <a:avLst/>
          </a:prstGeom>
          <a:solidFill>
            <a:srgbClr val="6B8CA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700784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19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1673352"/>
            <a:ext cx="7406640" cy="59436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1673352"/>
            <a:ext cx="64008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1572768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y limpieza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72768" y="197510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Dimensión, tipos, nulos, calidad y limpieza por archivo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0392" y="2980944"/>
            <a:ext cx="36576" cy="301752"/>
          </a:xfrm>
          <a:prstGeom prst="rect">
            <a:avLst/>
          </a:prstGeom>
          <a:solidFill>
            <a:srgbClr val="6B8CA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05456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5237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478024"/>
            <a:ext cx="7406640" cy="59436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2478024"/>
            <a:ext cx="64008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1572768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72768" y="277977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univariable de total_flights, CLV y province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" y="3785616"/>
            <a:ext cx="36576" cy="301752"/>
          </a:xfrm>
          <a:prstGeom prst="rect">
            <a:avLst/>
          </a:prstGeom>
          <a:solidFill>
            <a:srgbClr val="6B8CA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310128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3284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71600" y="3282696"/>
            <a:ext cx="7406640" cy="59436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71600" y="3282696"/>
            <a:ext cx="64008" cy="594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1572768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572768" y="358444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actividad + perfil sobre loyalty_number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411480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1330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71600" y="4087368"/>
            <a:ext cx="7406640" cy="59436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71600" y="4087368"/>
            <a:ext cx="64008" cy="594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1572768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más valioso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572768" y="43891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de loyalty_card con CLV, vuelos y geografía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VUELO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005840"/>
            <a:ext cx="2560320" cy="25603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005840"/>
            <a:ext cx="25603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325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vuelo/mes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715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del total_flights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25603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05840"/>
            <a:ext cx="256032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325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329184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vuelos/mes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2715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máximo registrado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1005840"/>
            <a:ext cx="2560320" cy="256032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1005840"/>
            <a:ext cx="256032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4"/>
          <p:cNvSpPr/>
          <p:nvPr/>
        </p:nvSpPr>
        <p:spPr>
          <a:xfrm>
            <a:off x="6080760" y="1325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Asimétrica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08076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80760" y="2715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larga · Media &gt; Mediana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" y="3840480"/>
            <a:ext cx="73152" cy="7772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7764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51560" y="3904488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clientes vuela solo 1 vez al mes (mediana = 1), pero la distribución tiene una cola larga pronunciada: hay clientes que llegan a 32 vuelos/mes. Ese extremo es donde se concentra el valor estratégico.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5" name="Text 21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777240"/>
          <a:ext cx="4572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120640" y="822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mediano por tarjeta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(% del total)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120640" y="1508760"/>
            <a:ext cx="3657600" cy="694944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120640" y="1508760"/>
            <a:ext cx="73152" cy="69494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5"/>
          <p:cNvSpPr/>
          <p:nvPr/>
        </p:nvSpPr>
        <p:spPr>
          <a:xfrm>
            <a:off x="5321808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0" y="1563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 smtClean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43%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635240" y="1600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CLV total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321808" y="1911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medianos: 2 /mes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120640" y="2313432"/>
            <a:ext cx="3657600" cy="694944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20640" y="2313432"/>
            <a:ext cx="73152" cy="694944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5" name="Text 11"/>
          <p:cNvSpPr/>
          <p:nvPr/>
        </p:nvSpPr>
        <p:spPr>
          <a:xfrm>
            <a:off x="5321808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635240" y="2404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CLV total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321808" y="27157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medianos: 1 /mes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120640" y="3118104"/>
            <a:ext cx="3657600" cy="694944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20640" y="3118104"/>
            <a:ext cx="73152" cy="69494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7"/>
          <p:cNvSpPr/>
          <p:nvPr/>
        </p:nvSpPr>
        <p:spPr>
          <a:xfrm>
            <a:off x="5321808" y="31821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00800" y="3172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 smtClean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26%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635240" y="3209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CLV total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321808" y="35204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medianos: 1 /mes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6" name="Shape 22"/>
          <p:cNvSpPr/>
          <p:nvPr/>
        </p:nvSpPr>
        <p:spPr>
          <a:xfrm>
            <a:off x="365760" y="4206240"/>
            <a:ext cx="73152" cy="71323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325112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51560" y="4270248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concentra el </a:t>
            </a:r>
            <a:r>
              <a:rPr lang="en-US" sz="1100" dirty="0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43</a:t>
            </a: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CLV con apenas 1 vuelo más de mediana que Nova y Star. La razón para retenerla es económica, no de frecuencia.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0" name="Text 25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GEOGRÁFICA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2608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1362456"/>
            <a:ext cx="41148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362456"/>
            <a:ext cx="3813597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6"/>
          <p:cNvSpPr/>
          <p:nvPr/>
        </p:nvSpPr>
        <p:spPr>
          <a:xfrm>
            <a:off x="1801368" y="786384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76F51"/>
          </a:solidFill>
          <a:ln/>
        </p:spPr>
      </p:sp>
      <p:sp>
        <p:nvSpPr>
          <p:cNvPr id="10" name="Text 7"/>
          <p:cNvSpPr/>
          <p:nvPr/>
        </p:nvSpPr>
        <p:spPr>
          <a:xfrm>
            <a:off x="1801368" y="786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2075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Columbia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26080" y="2075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 smtClean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365760" y="2478024"/>
            <a:ext cx="41148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" y="2478024"/>
            <a:ext cx="3018617" cy="2743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3191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Quebec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926080" y="3191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 smtClean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365760" y="3593592"/>
            <a:ext cx="41148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8" name="Shape 25"/>
          <p:cNvSpPr/>
          <p:nvPr/>
        </p:nvSpPr>
        <p:spPr>
          <a:xfrm>
            <a:off x="365760" y="3593592"/>
            <a:ext cx="2212116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Shape 32"/>
          <p:cNvSpPr/>
          <p:nvPr/>
        </p:nvSpPr>
        <p:spPr>
          <a:xfrm>
            <a:off x="4800600" y="960120"/>
            <a:ext cx="3977640" cy="1115568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00600" y="960120"/>
            <a:ext cx="39776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4"/>
          <p:cNvSpPr/>
          <p:nvPr/>
        </p:nvSpPr>
        <p:spPr>
          <a:xfrm>
            <a:off x="4800600" y="111556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78</a:t>
            </a:r>
            <a:r>
              <a:rPr lang="en-US" sz="5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00" dirty="0"/>
          </a:p>
        </p:txBody>
      </p:sp>
      <p:sp>
        <p:nvSpPr>
          <p:cNvPr id="38" name="Text 35"/>
          <p:cNvSpPr/>
          <p:nvPr/>
        </p:nvSpPr>
        <p:spPr>
          <a:xfrm>
            <a:off x="4800600" y="1664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 + British </a:t>
            </a:r>
            <a:r>
              <a:rPr lang="en-US" sz="1050" dirty="0" smtClean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+ Quebec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800600" y="2240280"/>
            <a:ext cx="3977640" cy="960120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800600" y="2240280"/>
            <a:ext cx="64008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8"/>
          <p:cNvSpPr/>
          <p:nvPr/>
        </p:nvSpPr>
        <p:spPr>
          <a:xfrm>
            <a:off x="4983480" y="2304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consistente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983480" y="259689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000" dirty="0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Ontario, British Columbia y Quebec concentran la mayoría de los clientes Aurora, aunque lo mismo ocurre con el resto de tarjetas.</a:t>
            </a:r>
          </a:p>
        </p:txBody>
      </p:sp>
      <p:sp>
        <p:nvSpPr>
          <p:cNvPr id="43" name="Shape 40"/>
          <p:cNvSpPr/>
          <p:nvPr/>
        </p:nvSpPr>
        <p:spPr>
          <a:xfrm>
            <a:off x="4800600" y="3364991"/>
            <a:ext cx="3977640" cy="994507"/>
          </a:xfrm>
          <a:prstGeom prst="rect">
            <a:avLst/>
          </a:prstGeom>
          <a:solidFill>
            <a:srgbClr val="16203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800600" y="3364992"/>
            <a:ext cx="64008" cy="8686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5" name="Text 42"/>
          <p:cNvSpPr/>
          <p:nvPr/>
        </p:nvSpPr>
        <p:spPr>
          <a:xfrm>
            <a:off x="4983480" y="336499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98348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000" dirty="0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concentración geográfica diferencial, lo que puede ser una ventaja: en las zonas con más clientes, hay mayor oportunidad de subir de nivel a aquellos que aún no son Aurora.</a:t>
            </a:r>
          </a:p>
          <a:p>
            <a:r>
              <a:rPr lang="en-US" sz="1000" dirty="0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8" name="Text 45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RECOMENDADAS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68680"/>
            <a:ext cx="3931920" cy="246051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868680"/>
            <a:ext cx="3931920" cy="73152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058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978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Retener Aurora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premium exclusivos.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personalizada (telefónica), no masiva.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VIP no quiere sentirse uno más.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246051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868680"/>
            <a:ext cx="4114800" cy="7315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05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978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Hacer crecer Aurora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846320" y="14173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200" b="1" dirty="0" err="1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</a:t>
            </a:r>
            <a:r>
              <a:rPr lang="en-US" sz="1200" b="1" dirty="0" smtClean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 clientes en todos los niveles.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prueba temporal de beneficios Aurora a clientes Star y Nova que alcancen un umbral de gasto.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1" name="Text 15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501</Words>
  <Application>Microsoft Office PowerPoint</Application>
  <PresentationFormat>Presentación en pantalla (16:9)</PresentationFormat>
  <Paragraphs>111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Fidelización — Aerolínea Canadiense</dc:title>
  <dc:subject>PptxGenJS Presentation</dc:subject>
  <dc:creator>PptxGenJS</dc:creator>
  <cp:lastModifiedBy>USER</cp:lastModifiedBy>
  <cp:revision>2</cp:revision>
  <dcterms:created xsi:type="dcterms:W3CDTF">2026-03-24T21:03:41Z</dcterms:created>
  <dcterms:modified xsi:type="dcterms:W3CDTF">2026-03-24T21:20:41Z</dcterms:modified>
</cp:coreProperties>
</file>